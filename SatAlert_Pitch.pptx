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nome do projeto, o problema central (queimadas e desmatamento no Brasil) e como a solução se conecta aos ODS 2 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problema central é a lentidão na detecção. Cite os dados de área queimada e desmatamento. Conecte com as metas do ODS 13 (ação climática) e ODS 2 (segurança alimentar / terras agrícolas).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técnico: consumo das APIs de satélite (NASA FIRMS para focos de incêndio, Sentinel-5P para qualidade do ar), processamento geoespacial, exposição via API REST para o frontend e envio de alertas.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camada TOGAF. Destaque os stakeholders (drivers de negócio), os processos mapeados, os componentes de sistema por camada e a topologia de rede em cloud (Azure). Mencione que a documentação completa está em ArchiMate.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que os dados são reais e acessíveis gratuitamente. O avaliador vai perguntar sobre a origem dos dados — mostre a URL da API NASA FIRMS e o portal Copernicus. Explique também o fluxo de ingestão no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camada da stack. Destaque que a arquitetura multi-container no Azure espelha o que foi entregue no DevOps. Mencione o Oracle como banco principal do projeto acadêmico (disciplina de BD) e PostGIS para dados geoespaciais.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explicitamente cada funcionalidade da plataforma aos ODS 2 e 13. O avaliador vai verificar se vocês entendem POR QUE esses ODS foram escolhidos — não apenas citar 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modelo entidade-relacionamento. Destaque as chaves primárias e estrangeiras, e como os dados geoespaciais (latitude/longitude, polígonos) se relacionam com os alertas. Mencione o uso de PL/SQL para procedures de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a demo, mostre o fluxo completo: chame a API NASA ao vivo, mostre o mapa com os focos, dispare um alerta manual e mostre a notificação chegando. Cada integrante deve explicar pelo menos um componente.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deve apresentar sua parte do sistema. O avaliador pode perguntar diretamente para qualquer membro — todos precisam conhecer o projeto por inteiro, não só sua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encerramento. Deixe tempo para perguntas. Estejam prontos para abrir o código ao vivo, navegar no sistema e responder sobre decisões de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solidFill>
              <a:srgbClr val="40916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74C69D">
              <a:alpha val="20000"/>
            </a:srgbClr>
          </a:solidFill>
          <a:ln w="12700">
            <a:solidFill>
              <a:srgbClr val="74C69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SatAlert</a:t>
            </a:r>
            <a:endParaRPr lang="en-US" sz="5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417320" y="157276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76F00"/>
          </a:solidFill>
          <a:ln/>
        </p:spPr>
      </p:sp>
      <p:sp>
        <p:nvSpPr>
          <p:cNvPr id="7" name="Text 4"/>
          <p:cNvSpPr/>
          <p:nvPr/>
        </p:nvSpPr>
        <p:spPr>
          <a:xfrm>
            <a:off x="1417320" y="1572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ODS 2 · ODS 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Queimadas 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Desmatamento via Satélite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reais. Alertas em tempo real. Terra protegida.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94D"/>
                </a:solidFill>
              </a:rPr>
              <a:t>2TDSPF — FIAP · Global Solution 2026/1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297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4C69D"/>
                </a:solidFill>
              </a:rPr>
              <a:t>Andrei de Paiva Gibbini RM 563061  ·  Pedro Sakai Silva Zambaca RM 565956  ·  Pedro Santos Pequini RM 561842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74C69D"/>
                </a:solidFill>
              </a:rPr>
              <a:t>Arthur Câmara RM 562310  ·  Diogo Cunha RM 563654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1417320"/>
            <a:ext cx="731520" cy="731520"/>
          </a:xfrm>
          <a:prstGeom prst="ellipse">
            <a:avLst/>
          </a:prstGeom>
          <a:solidFill>
            <a:srgbClr val="E76F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31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 ha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3063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queimados no Brasil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em 2024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2344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37660" y="1417320"/>
            <a:ext cx="731520" cy="73152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0" y="1463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331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11.568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200400" y="3063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km² desmatados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na Amazônia (2023)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72300" y="141732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14630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331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+48h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035040" y="30632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tempo médio de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detecção manual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B4332"/>
                </a:solidFill>
              </a:rPr>
              <a:t>A detecção tardia custa vidas, biodiversidade e recursos. Agricultores e órgãos ambientais precisam de alertas imediatos — não relatórios retroativos.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4C69D"/>
                </a:solidFill>
              </a:rPr>
              <a:t>Como o SatAlert funciona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40916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08760"/>
            <a:ext cx="822960" cy="8229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Coleta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APIs abertas NASA FIRMS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e Copernicus/ESA em tempo real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4173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40916C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017520" y="1508760"/>
            <a:ext cx="822960" cy="8229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2" name="Text 9"/>
          <p:cNvSpPr/>
          <p:nvPr/>
        </p:nvSpPr>
        <p:spPr>
          <a:xfrm>
            <a:off x="30175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1460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Processamento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46888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Pipeline de dados geoespaciais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(Python + PostGIS)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17720" y="14173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40916C">
              <a:alpha val="7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166360" y="1508760"/>
            <a:ext cx="822960" cy="8229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8" name="Text 14"/>
          <p:cNvSpPr/>
          <p:nvPr/>
        </p:nvSpPr>
        <p:spPr>
          <a:xfrm>
            <a:off x="516636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51460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Visualização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61772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Mapa interativo de focos,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heatmap por região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66560" y="14173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40916C">
              <a:alpha val="7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0" y="1508760"/>
            <a:ext cx="822960" cy="8229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24" name="Text 19"/>
          <p:cNvSpPr/>
          <p:nvPr/>
        </p:nvSpPr>
        <p:spPr>
          <a:xfrm>
            <a:off x="731520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514600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76656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Push/SMS para agricultores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e órgãos ambientais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2240280" y="2880360"/>
            <a:ext cx="228600" cy="0"/>
          </a:xfrm>
          <a:prstGeom prst="line">
            <a:avLst/>
          </a:prstGeom>
          <a:noFill/>
          <a:ln w="25400">
            <a:solidFill>
              <a:srgbClr val="FFA94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389120" y="2880360"/>
            <a:ext cx="228600" cy="0"/>
          </a:xfrm>
          <a:prstGeom prst="line">
            <a:avLst/>
          </a:prstGeom>
          <a:noFill/>
          <a:ln w="25400">
            <a:solidFill>
              <a:srgbClr val="FFA94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37960" y="2880360"/>
            <a:ext cx="228600" cy="0"/>
          </a:xfrm>
          <a:prstGeom prst="line">
            <a:avLst/>
          </a:prstGeom>
          <a:noFill/>
          <a:ln w="25400">
            <a:solidFill>
              <a:srgbClr val="FFA94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 (TOGAF/ArchiMate)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22960"/>
          </a:xfrm>
          <a:prstGeom prst="roundRect">
            <a:avLst>
              <a:gd name="adj" fmla="val 7778"/>
            </a:avLst>
          </a:prstGeom>
          <a:solidFill>
            <a:srgbClr val="1B4332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27432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Arquitetura de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143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Agricultores, IBAMA, Defesa Civil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Processo: Monitorar → Alertar → Responder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075688"/>
            <a:ext cx="8595360" cy="822960"/>
          </a:xfrm>
          <a:prstGeom prst="roundRect">
            <a:avLst>
              <a:gd name="adj" fmla="val 7778"/>
            </a:avLst>
          </a:prstGeom>
          <a:solidFill>
            <a:srgbClr val="40916C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75688"/>
            <a:ext cx="27432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Arquitetura de Sistema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07568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API Gateway · Serviço de Alertas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Ingestão de Dados · Serviço de Mapas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08376"/>
            <a:ext cx="8595360" cy="822960"/>
          </a:xfrm>
          <a:prstGeom prst="roundRect">
            <a:avLst>
              <a:gd name="adj" fmla="val 7778"/>
            </a:avLst>
          </a:prstGeom>
          <a:solidFill>
            <a:srgbClr val="74C69D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08376"/>
            <a:ext cx="27432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Arquitetura de Dados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008376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PostgreSQL/PostGIS · Redis Cache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API NASA FIRMS · API ESA Copernicus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941064"/>
            <a:ext cx="8595360" cy="822960"/>
          </a:xfrm>
          <a:prstGeom prst="roundRect">
            <a:avLst>
              <a:gd name="adj" fmla="val 7778"/>
            </a:avLst>
          </a:prstGeom>
          <a:solidFill>
            <a:srgbClr val="E76F00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41064"/>
            <a:ext cx="27432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Arquitetura de Tecnologia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941064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Azure Cloud · Docker Containers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</a:rPr>
              <a:t>REST API · WebSocket (tempo real)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Documentação completa em ArchiMate · Stakeholders: Agricultores, Órgãos Ambientais, Defesa Civil · Restrições: LGPD, disponibilidade 99.5%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de Satélite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4C69D"/>
                </a:solidFill>
              </a:rPr>
              <a:t>Fontes abertas e verificáveis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114800" cy="594360"/>
          </a:xfrm>
          <a:prstGeom prst="rect">
            <a:avLst/>
          </a:prstGeom>
          <a:solidFill>
            <a:srgbClr val="E76F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NASA FIRMS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Fire Information for Resource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Dados MODIS + VIIRS em tempo real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Cobertura global, resolução 375m–1km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API REST gratuita com histórico de 7 dias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Atualização a cada 3–12 horas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4114800" cy="5943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71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ESA Copernicus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719072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Sentinel-2 &amp; Sentinel-5P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21031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Imagens multiespectrais para desmatamento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NDVI e NBR para análise de vegetação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Sentinel-5P: CO, NO₂, aerossóis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Dados abertos via Copernicus Open Access Hub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51760" cy="64008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Java Spring Boot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.NET Core (Microserviço)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Python (ETL Satélite)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REST API + WebSocket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1430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Banco de Dados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Oracle SQL (relacional)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PostgreSQL + PostGIS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Redis (cache alertas)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PL/SQL Procedures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14300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1143000"/>
            <a:ext cx="2651760" cy="640080"/>
          </a:xfrm>
          <a:prstGeom prst="rect">
            <a:avLst/>
          </a:prstGeom>
          <a:solidFill>
            <a:srgbClr val="E76F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DevOps / Cloud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Azure VM + ACI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Docker Compose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CI/CD GitHub Actions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Multi-container arch.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&amp; 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E76F00">
              <a:alpha val="8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A94D"/>
                </a:solidFill>
              </a:rPr>
              <a:t>ODS 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Ação Climática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Detecção precoce de queimadas reduz emissão de CO₂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Alertas imediatos permitem resposta em menos de 1h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Dashboard para órgãos reguladores e defesa civil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40916C">
              <a:alpha val="8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C69D"/>
                </a:solidFill>
              </a:rPr>
              <a:t>ODS 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Fome Zero &amp; Agricultura Sustentável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Protege terras agrícolas do avanço do fogo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Alertas personalizados por propriedade rural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Histórico de desmatamento apoia certificação ambiental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&amp; Modelagem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11430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id_alerta PK · dt_emissao · tipo · severidade · lat · lng · id_usuario FK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5740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057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AREA_MONITORADA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20574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id_area PK · nome · geom (polygon) · id_usuario FK · dt_cadastro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971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FOCO_SATELITE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29718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id_foco PK · dt_deteccao · lat · lng · satellite · confidence · id_area FK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86200"/>
            <a:ext cx="2011680" cy="777240"/>
          </a:xfrm>
          <a:prstGeom prst="roundRect">
            <a:avLst>
              <a:gd name="adj" fmla="val 8235"/>
            </a:avLst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886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USUARIO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388620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id_usuario PK · nome · email · tipo (agricultor/orgao) · dt_cadastro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Relacionamentos: USUARIO 1—N ALERTA · USUARIO 1—N AREA_MONITORADA · AREA_MONITORADA 1—N FOCO_SATELITE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O Que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4C69D"/>
                </a:solidFill>
              </a:rPr>
              <a:t>Demonstração de ponta a ponta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5544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36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Ingestão de Dados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20299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Consome NASA FIRMS API e retorna focos ativos no Brasil em JSON estruturado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0" y="13716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536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Mapa Interativo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91840" y="20299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Frontend exibe heatmap de focos com filtro por estado, data e severidade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80760" y="13716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5544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15361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Sistema de Alertas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72200" y="20299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Trigger PL/SQL + endpoint REST dispara notificação quando novo foco é detectado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0040" y="32004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832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11480" y="3858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Painel com histórico de alertas, gráfico de incidências e áreas de risco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00400" y="32004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3832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94760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REST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291840" y="3858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Endpoints documentados (Swagger): GET /focos, POST /areas, GET /alertas/{id}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080760" y="3200400"/>
            <a:ext cx="2651760" cy="1600200"/>
          </a:xfrm>
          <a:prstGeom prst="roundRect">
            <a:avLst>
              <a:gd name="adj" fmla="val 5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3832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75120" y="3364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Testes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172200" y="3858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4C69D"/>
                </a:solidFill>
              </a:rPr>
              <a:t>Testes das rotas via Postman com cenários de entrada válida e inválida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Equipe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51560"/>
            <a:ext cx="2606040" cy="411480"/>
          </a:xfrm>
          <a:prstGeom prst="rect">
            <a:avLst/>
          </a:prstGeom>
          <a:solidFill>
            <a:srgbClr val="E76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Arquitetura &amp; Backend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15270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Andrei de Paiva Gibbini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</a:rPr>
              <a:t>RM 563061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286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2TDSPF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51560"/>
            <a:ext cx="2606040" cy="41148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97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DevOps &amp; Cloud Azure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91840" y="15270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Pedro Sakai Silva Zambaca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9184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</a:rPr>
              <a:t>RM 565956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91840" y="2286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2TDSPF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0760" y="10515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051560"/>
            <a:ext cx="2606040" cy="411480"/>
          </a:xfrm>
          <a:prstGeom prst="rect">
            <a:avLst/>
          </a:prstGeom>
          <a:solidFill>
            <a:srgbClr val="E76F0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Banco de Dados &amp; PL/SQL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172200" y="15270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Pedro Santos Pequini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7220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</a:rPr>
              <a:t>RM 561842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72200" y="2286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2TDSPF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64592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645920" y="3017520"/>
            <a:ext cx="2606040" cy="41148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0632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0312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&amp; Visualização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737360" y="34930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Arthur Câmara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737360" y="3931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</a:rPr>
              <a:t>RM 562310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737360" y="4251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2TDSPF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754880" y="30175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754880" y="3017520"/>
            <a:ext cx="2606040" cy="411480"/>
          </a:xfrm>
          <a:prstGeom prst="rect">
            <a:avLst/>
          </a:prstGeom>
          <a:solidFill>
            <a:srgbClr val="E76F0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1208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Integração Satélite &amp; APIs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846320" y="34930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Diogo Cunha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846320" y="3931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</a:rPr>
              <a:t>RM 563654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846320" y="4251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2TDSPF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40916C">
                <a:alpha val="2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7160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315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SatAlert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4C69D"/>
                </a:solidFill>
              </a:rPr>
              <a:t>Cada alerta a tempo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74C69D"/>
                </a:solidFill>
              </a:rPr>
              <a:t>é uma floresta salva.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283464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E76F0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Obrigado! Perguntas?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C69D"/>
                </a:solidFill>
              </a:rPr>
              <a:t>Andrei · Pedro Sakai · Pedro Pequini · Arthur · Diogo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2TDSPF — FIAP · Global Solution 2026/1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SatAlert - Pitch Deck</dc:title>
  <dc:subject>PptxGenJS Presentation</dc:subject>
  <dc:creator>PptxGenJS</dc:creator>
  <cp:lastModifiedBy>PptxGenJS</cp:lastModifiedBy>
  <cp:revision>1</cp:revision>
  <dcterms:created xsi:type="dcterms:W3CDTF">2026-06-09T18:03:25Z</dcterms:created>
  <dcterms:modified xsi:type="dcterms:W3CDTF">2026-06-09T18:03:25Z</dcterms:modified>
</cp:coreProperties>
</file>